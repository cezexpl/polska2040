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3"/>
                </a:solidFill>
              </a:defRPr>
            </a:pPr>
            <a:r>
              <a:t>Polska 2040: szansa dla regionów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554480" cy="54864"/>
          </a:xfrm>
          <a:prstGeom prst="rect">
            <a:avLst/>
          </a:prstGeom>
          <a:solidFill>
            <a:srgbClr val="C73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61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Kompetencje, MŚP i usługi publiczne w sieci krajowej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Szablon wypełniany wyłącznie aktualnymi danymi danego województwa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873"/>
                </a:solidFill>
              </a:defRPr>
            </a:pPr>
            <a:r>
              <a:t>Niezależny jawnoźródłowy projekt analityczny — bez materiałów niejawnych — nie jest dokumentem rządowym.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3"/>
                </a:solidFill>
              </a:defRPr>
            </a:pPr>
            <a:r>
              <a:t>Jedna strategia, różne specjalizacje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554480" cy="54864"/>
          </a:xfrm>
          <a:prstGeom prst="rect">
            <a:avLst/>
          </a:prstGeom>
          <a:solidFill>
            <a:srgbClr val="C73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61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Regiony nie kopiują identycznych laboratoriów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Profil wynika z firm, uczelni, kadr, infrastruktury i popytu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Wspólne standardy pozwalają dzielić zasoby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Pilotaż przed trwałym CAPEX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873"/>
                </a:solidFill>
              </a:defRPr>
            </a:pPr>
            <a:r>
              <a:t>Niezależny jawnoźródłowy projekt analityczny — bez materiałów niejawnych — nie jest dokumentem rządowym.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3"/>
                </a:solidFill>
              </a:defRPr>
            </a:pPr>
            <a:r>
              <a:t>Regionalne centrum to funkcja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554480" cy="54864"/>
          </a:xfrm>
          <a:prstGeom prst="rect">
            <a:avLst/>
          </a:prstGeom>
          <a:solidFill>
            <a:srgbClr val="C73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61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Broker łączy problem, nabywcę, MŚP, szkoły i uczelnie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Węzeł specjalistyczny może działać w innym województwie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Wspólny standard reguluje dane, test, handoff i wynik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Nowy budynek nie jest warunkiem zdolności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873"/>
                </a:solidFill>
              </a:defRPr>
            </a:pPr>
            <a:r>
              <a:t>Niezależny jawnoźródłowy projekt analityczny — bez materiałów niejawnych — nie jest dokumentem rządowym.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3"/>
                </a:solidFill>
              </a:defRPr>
            </a:pPr>
            <a:r>
              <a:t>Mapa specjalizacji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554480" cy="54864"/>
          </a:xfrm>
          <a:prstGeom prst="rect">
            <a:avLst/>
          </a:prstGeom>
          <a:solidFill>
            <a:srgbClr val="C73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61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Kompetencje i realne role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Łańcuchy dostaw, serwis i faktyczna dostępność infrastruktury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Przykład zasobu do kwalifikacji: ESA Phi-Lab Poland potwierdza środowiska robotyki, AI i autonomii, ale nie gwarantuje dostępu każdego pilota — ESA Phi-Lab Poland, CLM-1129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Problemy publiczne z właścicielem i bazą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873"/>
                </a:solidFill>
              </a:defRPr>
            </a:pPr>
            <a:r>
              <a:t>Niezależny jawnoźródłowy projekt analityczny — bez materiałów niejawnych — nie jest dokumentem rządowym.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3"/>
                </a:solidFill>
              </a:defRPr>
            </a:pPr>
            <a:r>
              <a:t>Szkoły i uczelnie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554480" cy="54864"/>
          </a:xfrm>
          <a:prstGeom prst="rect">
            <a:avLst/>
          </a:prstGeom>
          <a:solidFill>
            <a:srgbClr val="C73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61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Matematyka, fizyka, informatyka, robotyka i odpowiedzialne AI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Technika: mechatronika, elektronika, RF, CNC, kompozyty i serwis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Studia: systemy, dane, cyber, produkcja i prawo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Realny projekt i praktyka jako część oceny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873"/>
                </a:solidFill>
              </a:defRPr>
            </a:pPr>
            <a:r>
              <a:t>Niezależny jawnoźródłowy projekt analityczny — bez materiałów niejawnych — nie jest dokumentem rządowym.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3"/>
                </a:solidFill>
              </a:defRPr>
            </a:pPr>
            <a:r>
              <a:t>Hipoteza: przekwalifikowanie może dać wcześniejszy efekt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554480" cy="54864"/>
          </a:xfrm>
          <a:prstGeom prst="rect">
            <a:avLst/>
          </a:prstGeom>
          <a:solidFill>
            <a:srgbClr val="C73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61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REKOMENDACJA: moduły 3-, 6- i 12-miesięczne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Automatycy, elektronicy, programiści, konstruktorzy i operatorzy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Mikropoświadczenie po praktycznym zadaniu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Mierzyć zatrudnienie i retencję, nie liczbę zapisów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873"/>
                </a:solidFill>
              </a:defRPr>
            </a:pPr>
            <a:r>
              <a:t>Niezależny jawnoźródłowy projekt analityczny — bez materiałów niejawnych — nie jest dokumentem rządowym.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3"/>
                </a:solidFill>
              </a:defRPr>
            </a:pPr>
            <a:r>
              <a:t>MŚP w łańcuchu dostaw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554480" cy="54864"/>
          </a:xfrm>
          <a:prstGeom prst="rect">
            <a:avLst/>
          </a:prstGeom>
          <a:solidFill>
            <a:srgbClr val="C73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61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Jasne interfejsy i wymagania jakości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Wspólny dostęp do laboratoriów i testów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Proporcjonalne cyber i bezpieczeństwo informacji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Szybka płatność, feedback oraz ścieżka do kolejnej partii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873"/>
                </a:solidFill>
              </a:defRPr>
            </a:pPr>
            <a:r>
              <a:t>Niezależny jawnoźródłowy projekt analityczny — bez materiałów niejawnych — nie jest dokumentem rządowym.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3"/>
                </a:solidFill>
              </a:defRPr>
            </a:pPr>
            <a:r>
              <a:t>Zastosowania lokalne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554480" cy="54864"/>
          </a:xfrm>
          <a:prstGeom prst="rect">
            <a:avLst/>
          </a:prstGeom>
          <a:solidFill>
            <a:srgbClr val="C73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61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Ratownictwo, rolnictwo, energia i środowisko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Kolej, budownictwo, geodezja i logistyka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Baseline i pilotaż mierzą czas, koszt, jakość, TCO i ryzyko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Kontynuacja z budżetu właściciela albo zamknięcie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873"/>
                </a:solidFill>
              </a:defRPr>
            </a:pPr>
            <a:r>
              <a:t>Niezależny jawnoźródłowy projekt analityczny — bez materiałów niejawnych — nie jest dokumentem rządowym.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3"/>
                </a:solidFill>
              </a:defRPr>
            </a:pPr>
            <a:r>
              <a:t>Karta danych województwa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554480" cy="54864"/>
          </a:xfrm>
          <a:prstGeom prst="rect">
            <a:avLst/>
          </a:prstGeom>
          <a:solidFill>
            <a:srgbClr val="C73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61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Źródło, data, definicja i mianownik każdej liczby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Kompetencje, płace, firmy, laboratoria i popyt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Dane niepewne pozostają UNKNOWN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Lokalnych wartości nie kopiuje się między regionami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873"/>
                </a:solidFill>
              </a:defRPr>
            </a:pPr>
            <a:r>
              <a:t>Niezależny jawnoźródłowy projekt analityczny — bez materiałów niejawnych — nie jest dokumentem rządowym.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3"/>
                </a:solidFill>
              </a:defRPr>
            </a:pPr>
            <a:r>
              <a:t>Finansowanie centrum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554480" cy="54864"/>
          </a:xfrm>
          <a:prstGeom prst="rect">
            <a:avLst/>
          </a:prstGeom>
          <a:solidFill>
            <a:srgbClr val="C73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61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Koszt funkcji oddzielony od kosztu budynku i sprzętu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Instrument krajowy, UE, samorządowy i prywatny ma inny cel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Jeden identyfikator kosztu zapobiega podwójnemu finansowaniu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Plan utrzymania po pilotażu jest obowiązkowy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873"/>
                </a:solidFill>
              </a:defRPr>
            </a:pPr>
            <a:r>
              <a:t>Niezależny jawnoźródłowy projekt analityczny — bez materiałów niejawnych — nie jest dokumentem rządowym.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3"/>
                </a:solidFill>
              </a:defRPr>
            </a:pPr>
            <a:r>
              <a:t>KPI regionalne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554480" cy="54864"/>
          </a:xfrm>
          <a:prstGeom prst="rect">
            <a:avLst/>
          </a:prstGeom>
          <a:solidFill>
            <a:srgbClr val="C73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61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Kompetencje spełniające praktyczny standard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Zatrudnienie i retencja po 12/24 miesiącach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Projekty po teście użytkownika i wdrożeniu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Wykorzystanie infrastruktury, produktywność i wykonany eksport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873"/>
                </a:solidFill>
              </a:defRPr>
            </a:pPr>
            <a:r>
              <a:t>Niezależny jawnoźródłowy projekt analityczny — bez materiałów niejawnych — nie jest dokumentem rządowym.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3"/>
                </a:solidFill>
              </a:defRPr>
            </a:pPr>
            <a:r>
              <a:t>Ryzyka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554480" cy="54864"/>
          </a:xfrm>
          <a:prstGeom prst="rect">
            <a:avLst/>
          </a:prstGeom>
          <a:solidFill>
            <a:srgbClr val="C73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61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Infrastruktura bez popytu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Patronat jako reklama jednej firmy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Powielanie zasobów oraz odpływ instruktorów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Grant bez zakupów po pilotażu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873"/>
                </a:solidFill>
              </a:defRPr>
            </a:pPr>
            <a:r>
              <a:t>Niezależny jawnoźródłowy projekt analityczny — bez materiałów niejawnych — nie jest dokumentem rządowym. 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3"/>
                </a:solidFill>
              </a:defRPr>
            </a:pPr>
            <a:r>
              <a:t>Pierwszy krok regionu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325880"/>
            <a:ext cx="1554480" cy="54864"/>
          </a:xfrm>
          <a:prstGeom prst="rect">
            <a:avLst/>
          </a:prstGeom>
          <a:solidFill>
            <a:srgbClr val="C73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613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Zbudować mapę problemów, kompetencji, firm i zasobów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Wybrać jeden–dwa pilotaże z właścicielem i bazą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Wycenić funkcję centrum i plan utrzymania</a:t>
            </a:r>
          </a:p>
          <a:p>
            <a:pPr>
              <a:spcAft>
                <a:spcPts val="1000"/>
              </a:spcAft>
              <a:defRPr sz="1800">
                <a:solidFill>
                  <a:srgbClr val="17202A"/>
                </a:solidFill>
              </a:defRPr>
            </a:pPr>
            <a:r>
              <a:t>• Skalować dopiero po popycie, wykorzystaniu i wyniku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5D6873"/>
                </a:solidFill>
              </a:defRPr>
            </a:pPr>
            <a:r>
              <a:t>Niezależny jawnoźródłowy projekt analityczny — bez materiałów niejawnych — nie jest dokumentem rządowym.   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