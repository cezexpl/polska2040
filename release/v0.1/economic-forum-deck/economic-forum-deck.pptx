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1F33"/>
                </a:solidFill>
              </a:defRPr>
            </a:pPr>
            <a:r>
              <a:t>Polska 2040: bezpieczeństwo i produktywność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25880"/>
            <a:ext cx="1554480" cy="54864"/>
          </a:xfrm>
          <a:prstGeom prst="rect">
            <a:avLst/>
          </a:prstGeom>
          <a:solidFill>
            <a:srgbClr val="C73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6132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HIPOTEZA DO PRZETESTOWANIA: wspólne zdolności mogą tworzyć wartość cywilną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Niezależny draft ekspercki v0.1 · 21.07.2026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D6873"/>
                </a:solidFill>
              </a:defRPr>
            </a:pPr>
            <a:r>
              <a:t>Niezależny jawnoźródłowy projekt analityczny — bez materiałów niejawnych — nie jest dokumentem rządowym.   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1F33"/>
                </a:solidFill>
              </a:defRPr>
            </a:pPr>
            <a:r>
              <a:t>Propozycja strategiczna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25880"/>
            <a:ext cx="1554480" cy="54864"/>
          </a:xfrm>
          <a:prstGeom prst="rect">
            <a:avLst/>
          </a:prstGeom>
          <a:solidFill>
            <a:srgbClr val="C73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6132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Nie osobny „sektor dronowy”, lecz platforma zdolności technologicznych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Wspólny cykl dla obronności i zastosowań cywilnych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Szybkie uczenie przed dużym CAPEX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Wartość w Polsce mierzona cyklem życia, nie etykietą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D6873"/>
                </a:solidFill>
              </a:defRPr>
            </a:pPr>
            <a:r>
              <a:t>Niezależny jawnoźródłowy projekt analityczny — bez materiałów niejawnych — nie jest dokumentem rządowym. 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1F33"/>
                </a:solidFill>
              </a:defRPr>
            </a:pPr>
            <a:r>
              <a:t>Okno finansowania nie wystarczy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25880"/>
            <a:ext cx="1554480" cy="54864"/>
          </a:xfrm>
          <a:prstGeom prst="rect">
            <a:avLst/>
          </a:prstGeom>
          <a:solidFill>
            <a:srgbClr val="C73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6132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SAFE: pożyczka 43,7 mld EUR — CLM-1208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Plan 89% dla polskiej gospodarki wymaga metody i pomiaru — CLM-1209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Kapitał bez problemów, testów i popytu może utrwalić fragmentację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Najpierw architektura wykonania, potem skala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D6873"/>
                </a:solidFill>
              </a:defRPr>
            </a:pPr>
            <a:r>
              <a:t>Niezależny jawnoźródłowy projekt analityczny — bez materiałów niejawnych — nie jest dokumentem rządowym. 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1F33"/>
                </a:solidFill>
              </a:defRPr>
            </a:pPr>
            <a:r>
              <a:t>Wąskie gardło to wdrożenie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25880"/>
            <a:ext cx="1554480" cy="54864"/>
          </a:xfrm>
          <a:prstGeom prst="rect">
            <a:avLst/>
          </a:prstGeom>
          <a:solidFill>
            <a:srgbClr val="C73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6132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Grant nie jest produktem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Prototyp nie jest powtarzalną produkcją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Montaż nie jest pełną suwerennością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Memorandum eksportowe nie jest przychodem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D6873"/>
                </a:solidFill>
              </a:defRPr>
            </a:pPr>
            <a:r>
              <a:t>Niezależny jawnoźródłowy projekt analityczny — bez materiałów niejawnych — nie jest dokumentem rządowym. 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1F33"/>
                </a:solidFill>
              </a:defRPr>
            </a:pPr>
            <a:r>
              <a:t>Jeden cykl gospodarczy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25880"/>
            <a:ext cx="1554480" cy="54864"/>
          </a:xfrm>
          <a:prstGeom prst="rect">
            <a:avLst/>
          </a:prstGeom>
          <a:solidFill>
            <a:srgbClr val="C73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498348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Użytkownik i baza → prototyp → test → mała partia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Produkcja → serwis → eksport → aktualizacja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Każdy etap redukuje inną niepewność</a:t>
            </a:r>
          </a:p>
        </p:txBody>
      </p:sp>
      <p:pic>
        <p:nvPicPr>
          <p:cNvPr id="5" name="Picture 4" descr="Cykl od problemu do aktualizacji" title="Cykl od problemu do aktualizacji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1691640"/>
            <a:ext cx="5349240" cy="207134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D6873"/>
                </a:solidFill>
              </a:defRPr>
            </a:pPr>
            <a:r>
              <a:t>Niezależny jawnoźródłowy projekt analityczny — bez materiałów niejawnych — nie jest dokumentem rządowym. 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1F33"/>
                </a:solidFill>
              </a:defRPr>
            </a:pPr>
            <a:r>
              <a:t>Hipotezy mechanizmów produktywności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25880"/>
            <a:ext cx="1554480" cy="54864"/>
          </a:xfrm>
          <a:prstGeom prst="rect">
            <a:avLst/>
          </a:prstGeom>
          <a:solidFill>
            <a:srgbClr val="C73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6132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Baseline 2025: AI wykorzystywało 8,4% polskich przedsiębiorstw z co najmniej 10 pracującymi wobec 20,0% w UE — Eurostat, CLM-1101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Potencjalnie: automatyzacja, jakość i mniej przestojów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Do sprawdzenia: transfer software'u, sensorów i metod produkcji oraz skala dostawców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Wynik mierzyć przez kompetencje, produktywność i wykonany eksport względem bazy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D6873"/>
                </a:solidFill>
              </a:defRPr>
            </a:pPr>
            <a:r>
              <a:t>Niezależny jawnoźródłowy projekt analityczny — bez materiałów niejawnych — nie jest dokumentem rządowym. 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1F33"/>
                </a:solidFill>
              </a:defRPr>
            </a:pPr>
            <a:r>
              <a:t>Przemysł: sieć, nie megafabryka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25880"/>
            <a:ext cx="1554480" cy="54864"/>
          </a:xfrm>
          <a:prstGeom prst="rect">
            <a:avLst/>
          </a:prstGeom>
          <a:solidFill>
            <a:srgbClr val="C73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6132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Integratorzy, elektronika/RF, energia, sensory, mechanika, software i serwis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Kontroluj / współkontroluj / dywersyfikuj / zaakceptuj zależność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Modułowe moce i kwalifikowane alternatywy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CAPEX tylko z popytem, jakością i planem wykorzystania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D6873"/>
                </a:solidFill>
              </a:defRPr>
            </a:pPr>
            <a:r>
              <a:t>Niezależny jawnoźródłowy projekt analityczny — bez materiałów niejawnych — nie jest dokumentem rządowym. 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1F33"/>
                </a:solidFill>
              </a:defRPr>
            </a:pPr>
            <a:r>
              <a:t>Finansowanie dopasowane do ryzyka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25880"/>
            <a:ext cx="1554480" cy="54864"/>
          </a:xfrm>
          <a:prstGeom prst="rect">
            <a:avLst/>
          </a:prstGeom>
          <a:solidFill>
            <a:srgbClr val="C73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6132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Badanie: grant lub mały kontrakt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Test i mała partia: zamówienie etapowe z opcją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Skala: kontrakt, kredyt, gwarancja lub kapitał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Eksport: zgodność, ubezpieczenie i serwis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D6873"/>
                </a:solidFill>
              </a:defRPr>
            </a:pPr>
            <a:r>
              <a:t>Niezależny jawnoźródłowy projekt analityczny — bez materiałów niejawnych — nie jest dokumentem rządowym.  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1F33"/>
                </a:solidFill>
              </a:defRPr>
            </a:pPr>
            <a:r>
              <a:t>Ukraina i europejska skala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25880"/>
            <a:ext cx="1554480" cy="54864"/>
          </a:xfrm>
          <a:prstGeom prst="rect">
            <a:avLst/>
          </a:prstGeom>
          <a:solidFill>
            <a:srgbClr val="C73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6132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Umowa daje ramy łańcuchów, lokalizacji, produkcji i IP — CLM-1212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BraveTech EU ma łączny budżet 100 mln EUR — CLM-1213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Polska już uczestniczy — mierzyć korzyści, nie samo członkostwo — CLM-1214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Portfolio partnerstw zamiast jednej preferowanej marki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D6873"/>
                </a:solidFill>
              </a:defRPr>
            </a:pPr>
            <a:r>
              <a:t>Niezależny jawnoźródłowy projekt analityczny — bez materiałów niejawnych — nie jest dokumentem rządowym.  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1F33"/>
                </a:solidFill>
              </a:defRPr>
            </a:pPr>
            <a:r>
              <a:t>Talenty: popyt przed podażą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25880"/>
            <a:ext cx="1554480" cy="54864"/>
          </a:xfrm>
          <a:prstGeom prst="rect">
            <a:avLst/>
          </a:prstGeom>
          <a:solidFill>
            <a:srgbClr val="C73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6132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HIPOTEZA DO PRZETESTOWANIA: przekwalifikowanie może dać wcześniejszy mierzalny efekt niż tworzenie nowej uczelni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Technicy, jakość i serwis są równie krytyczne jak R&amp;D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Istniejące uczelnie i szkoły tworzą sieć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Porównać koszt, kompetencję, zatrudnienie, retencję i produktywność względem bazy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D6873"/>
                </a:solidFill>
              </a:defRPr>
            </a:pPr>
            <a:r>
              <a:t>Niezależny jawnoźródłowy projekt analityczny — bez materiałów niejawnych — nie jest dokumentem rządowym.  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1F33"/>
                </a:solidFill>
              </a:defRPr>
            </a:pPr>
            <a:r>
              <a:t>Energia i infrastruktura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25880"/>
            <a:ext cx="1554480" cy="54864"/>
          </a:xfrm>
          <a:prstGeom prst="rect">
            <a:avLst/>
          </a:prstGeom>
          <a:solidFill>
            <a:srgbClr val="C73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6132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Inspekcja, diagnostyka i predykcja awarii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Robotyka w środowiskach ryzyka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Dane i cyfrowe bliźniaki z właściwym governance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Pilotaż kończy się popytem właściciela albo zamknięciem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D6873"/>
                </a:solidFill>
              </a:defRPr>
            </a:pPr>
            <a:r>
              <a:t>Niezależny jawnoźródłowy projekt analityczny — bez materiałów niejawnych — nie jest dokumentem rządowym.  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1F33"/>
                </a:solidFill>
              </a:defRPr>
            </a:pPr>
            <a:r>
              <a:t>Rolnictwo, środowisko i budownictwo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25880"/>
            <a:ext cx="1554480" cy="54864"/>
          </a:xfrm>
          <a:prstGeom prst="rect">
            <a:avLst/>
          </a:prstGeom>
          <a:solidFill>
            <a:srgbClr val="C73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6132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Precyzyjne pomiary i ograniczanie strat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Automatyzacja procesów powtarzalnych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Monitoring środowiska i stanu inwestycji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Wynik względem bazy, nie liczba wdrożonych urządzeń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D6873"/>
                </a:solidFill>
              </a:defRPr>
            </a:pPr>
            <a:r>
              <a:t>Niezależny jawnoźródłowy projekt analityczny — bez materiałów niejawnych — nie jest dokumentem rządowym.   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1F33"/>
                </a:solidFill>
              </a:defRPr>
            </a:pPr>
            <a:r>
              <a:t>Logistyka, kolej i gospodarka morska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25880"/>
            <a:ext cx="1554480" cy="54864"/>
          </a:xfrm>
          <a:prstGeom prst="rect">
            <a:avLst/>
          </a:prstGeom>
          <a:solidFill>
            <a:srgbClr val="C73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6132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Magazyny, diagnostyka, inspekcja i wsparcie operacji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Systemy lądowe, nawodne i podwodne na poziomie cywilnym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Interfejsy i dane umożliwiają wielu dostawców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Bezpieczeństwo, odpowiedzialność i serwis od projektu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D6873"/>
                </a:solidFill>
              </a:defRPr>
            </a:pPr>
            <a:r>
              <a:t>Niezależny jawnoźródłowy projekt analityczny — bez materiałów niejawnych — nie jest dokumentem rządowym.   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1F33"/>
                </a:solidFill>
              </a:defRPr>
            </a:pPr>
            <a:r>
              <a:t>Regiony jako wyspecjalizowana sieć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25880"/>
            <a:ext cx="1554480" cy="54864"/>
          </a:xfrm>
          <a:prstGeom prst="rect">
            <a:avLst/>
          </a:prstGeom>
          <a:solidFill>
            <a:srgbClr val="C73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6132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Nie kopiować identycznych laboratoriów w każdym województwie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Łączyć szkołę, uczelnię, MŚP, użytkownika i infrastrukturę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Pilotaż dwóch–trzech modeli przed decyzją skali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Warunek: popyt, wykorzystanie i retencja kadr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D6873"/>
                </a:solidFill>
              </a:defRPr>
            </a:pPr>
            <a:r>
              <a:t>Niezależny jawnoźródłowy projekt analityczny — bez materiałów niejawnych — nie jest dokumentem rządowym.   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1F33"/>
                </a:solidFill>
              </a:defRPr>
            </a:pPr>
            <a:r>
              <a:t>Jak mierzyć wartość w Polsce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25880"/>
            <a:ext cx="1554480" cy="54864"/>
          </a:xfrm>
          <a:prstGeom prst="rect">
            <a:avLst/>
          </a:prstGeom>
          <a:solidFill>
            <a:srgbClr val="C73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6132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Wartość dodana, IP, kompetencje, serwis i aktualizacje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Produktywność względem kontrfaktycznego wariantu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Wykonany eksport i marża, nie liczba memorandum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Prywatny udział ryzyka i brak podwójnego finansowania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D6873"/>
                </a:solidFill>
              </a:defRPr>
            </a:pPr>
            <a:r>
              <a:t>Niezależny jawnoźródłowy projekt analityczny — bez materiałów niejawnych — nie jest dokumentem rządowym.   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1F33"/>
                </a:solidFill>
              </a:defRPr>
            </a:pPr>
            <a:r>
              <a:t>Czego nie robić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25880"/>
            <a:ext cx="1554480" cy="54864"/>
          </a:xfrm>
          <a:prstGeom prst="rect">
            <a:avLst/>
          </a:prstGeom>
          <a:solidFill>
            <a:srgbClr val="C73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6132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Duży CAPEX bez popytu i pełnego TCO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Kierunki studiów bez kompetencyjnej bazy i zatrudnienia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Lokalizacja liczona miejscem faktury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Mnożnik PKB bez metody, źródeł i analizy wrażliwości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D6873"/>
                </a:solidFill>
              </a:defRPr>
            </a:pPr>
            <a:r>
              <a:t>Niezależny jawnoźródłowy projekt analityczny — bez materiałów niejawnych — nie jest dokumentem rządowym.    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1F33"/>
                </a:solidFill>
              </a:defRPr>
            </a:pPr>
            <a:r>
              <a:t>Obszary potencjalnej współpracy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25880"/>
            <a:ext cx="1554480" cy="54864"/>
          </a:xfrm>
          <a:prstGeom prst="rect">
            <a:avLst/>
          </a:prstGeom>
          <a:solidFill>
            <a:srgbClr val="C73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6132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Materiał konsultacyjny — nie stanowi oficjalnej oferty państwa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Użytkownicy: problemy i dane bazowe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Firmy: modularność, prawa cyklu życia i współfinansowanie ryzyka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Nauka: benchmarki, transfer i infrastruktura współdzielona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Państwo: wiarygodny popyt, testy, standardy i decyzje po dowodach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D6873"/>
                </a:solidFill>
              </a:defRPr>
            </a:pPr>
            <a:r>
              <a:t>Niezależny jawnoźródłowy projekt analityczny — bez materiałów niejawnych — nie jest dokumentem rządowym.    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